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81" r:id="rId4"/>
    <p:sldId id="258" r:id="rId5"/>
    <p:sldId id="259" r:id="rId6"/>
    <p:sldId id="260" r:id="rId7"/>
    <p:sldId id="287" r:id="rId8"/>
    <p:sldId id="288" r:id="rId9"/>
    <p:sldId id="286" r:id="rId10"/>
    <p:sldId id="263" r:id="rId11"/>
    <p:sldId id="264" r:id="rId12"/>
    <p:sldId id="265" r:id="rId13"/>
    <p:sldId id="266" r:id="rId14"/>
    <p:sldId id="267" r:id="rId15"/>
    <p:sldId id="268" r:id="rId16"/>
    <p:sldId id="280" r:id="rId17"/>
    <p:sldId id="269" r:id="rId18"/>
    <p:sldId id="270" r:id="rId19"/>
    <p:sldId id="271" r:id="rId20"/>
    <p:sldId id="272" r:id="rId21"/>
    <p:sldId id="282" r:id="rId22"/>
    <p:sldId id="284" r:id="rId23"/>
    <p:sldId id="289" r:id="rId24"/>
    <p:sldId id="274" r:id="rId25"/>
    <p:sldId id="277" r:id="rId26"/>
    <p:sldId id="278" r:id="rId27"/>
    <p:sldId id="279" r:id="rId2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85" autoAdjust="0"/>
    <p:restoredTop sz="88661" autoAdjust="0"/>
  </p:normalViewPr>
  <p:slideViewPr>
    <p:cSldViewPr>
      <p:cViewPr varScale="1">
        <p:scale>
          <a:sx n="100" d="100"/>
          <a:sy n="100" d="100"/>
        </p:scale>
        <p:origin x="241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8C39CCD-AD91-4890-8833-01C0682F0D00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D8CC346-951D-41B2-B92F-5BC6E24E861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24263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 falla al compilar:</a:t>
            </a:r>
          </a:p>
          <a:p>
            <a:r>
              <a:rPr lang="es-ES" dirty="0"/>
              <a:t>Sustituir en </a:t>
            </a:r>
            <a:r>
              <a:rPr lang="es-ES" dirty="0" err="1"/>
              <a:t>package.json</a:t>
            </a:r>
            <a:r>
              <a:rPr lang="es-ES" dirty="0"/>
              <a:t> :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rxjs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"^6.0.0“, por "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rxjs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"6.0.0“,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ng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8CC346-951D-41B2-B92F-5BC6E24E861B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452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caso de que no funcione esta versión en concreto : </a:t>
            </a:r>
          </a:p>
          <a:p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resto igual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8CC346-951D-41B2-B92F-5BC6E24E861B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5389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de Splice:</a:t>
            </a:r>
          </a:p>
          <a:p>
            <a:pPr marL="228600" indent="-228600">
              <a:buAutoNum type="arabicPeriod"/>
            </a:pPr>
            <a:r>
              <a:rPr lang="en-US" dirty="0"/>
              <a:t>Add: En la </a:t>
            </a:r>
            <a:r>
              <a:rPr lang="en-US" dirty="0" err="1"/>
              <a:t>posición</a:t>
            </a:r>
            <a:r>
              <a:rPr lang="en-US" dirty="0"/>
              <a:t> 2 </a:t>
            </a:r>
            <a:r>
              <a:rPr lang="en-US" dirty="0" err="1"/>
              <a:t>añade</a:t>
            </a:r>
            <a:r>
              <a:rPr lang="en-US" dirty="0"/>
              <a:t> 2 </a:t>
            </a:r>
            <a:r>
              <a:rPr lang="en-US" dirty="0" err="1"/>
              <a:t>elementos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fruits.splice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"Lemon"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"Kiwi"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2. Remove: En 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posición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elmina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elementos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"Kiwi"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fruits.splice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8CC346-951D-41B2-B92F-5BC6E24E861B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5948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puede</a:t>
            </a:r>
            <a:r>
              <a:rPr lang="en-US" dirty="0"/>
              <a:t> usar Tambien lo </a:t>
            </a:r>
            <a:r>
              <a:rPr lang="en-US" dirty="0" err="1"/>
              <a:t>siguiente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s-E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getProduct</a:t>
            </a:r>
            <a:r>
              <a:rPr lang="es-ES" sz="1200" dirty="0">
                <a:solidFill>
                  <a:srgbClr val="000000"/>
                </a:solidFill>
                <a:latin typeface="Consolas" panose="020B0609020204030204" pitchFamily="49" charset="0"/>
              </a:rPr>
              <a:t>(id: </a:t>
            </a:r>
            <a:r>
              <a:rPr lang="es-E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1200" dirty="0">
                <a:solidFill>
                  <a:srgbClr val="000000"/>
                </a:solidFill>
                <a:latin typeface="Consolas" panose="020B0609020204030204" pitchFamily="49" charset="0"/>
              </a:rPr>
              <a:t>): </a:t>
            </a:r>
            <a:r>
              <a:rPr lang="es-ES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Product</a:t>
            </a:r>
            <a:r>
              <a:rPr lang="es-E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 | </a:t>
            </a:r>
            <a:r>
              <a:rPr lang="es-ES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undefined</a:t>
            </a:r>
            <a:r>
              <a:rPr lang="es-ES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.products.find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(p, id));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8CC346-951D-41B2-B92F-5BC6E24E861B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744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audio1.wav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audio1.wav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CC251C-736A-45F3-B943-CCD3D0A67D63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5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78D141-C358-413F-B216-F4F67B1D107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zoom/>
    <p:sndAc>
      <p:stSnd>
        <p:snd r:embed="rId2" name="wind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67A9B-0E58-48AF-990A-545DEFC61EC8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28228-34DF-4887-9B39-C070A8D07FE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681F52-29D1-48D4-BB58-E65B2F8AE19C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070DDC-78A9-4738-AA0B-51352333076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zoom/>
    <p:sndAc>
      <p:stSnd>
        <p:snd r:embed="rId2" name="wind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82D53-A2C8-45DB-B385-1743A847731B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6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69DE7-EA01-4C9E-A439-6A3083F9CB1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A64E5-58EC-4C90-BECD-095D87AD5A08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8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C0E2B-FB09-4C43-A105-B0A680AA62A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F6A6D-8E42-4A70-AF7D-AFCB3515CF82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4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55658-4812-4235-AB55-257D5BDEA7F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43FF7-CE3B-4D41-BFBC-D00105C09623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3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12D2F-AEE1-43C1-A57C-9A7E1E1FE3A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AF6C0-337F-4886-AF82-F389B24A210C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6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73E5F-9369-41BF-A029-9A955EF1862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ortar y redondear rectángulo de esquina sencilla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Triángulo rectángulo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E062CC-D765-47EA-A495-4EA041F4543C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10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1550547-7952-4EBE-B1C4-E725604BDD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4FF0B-EDF0-4D92-8703-3E22DEE9A19C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A2DA4-F178-4A0A-9C89-1F2F8D9E7AB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BC507-FD20-48C7-86DD-194D947AE138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5" name="2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1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36DC56-2459-4136-8837-AB4751925EF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 spd="slow">
    <p:zoom/>
    <p:sndAc>
      <p:stSnd>
        <p:snd r:embed="rId1" name="wind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8" name="8 Marcador de título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9" name="29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948696E-54F5-4D74-9761-3913C8C2221D}" type="datetimeFigureOut">
              <a:rPr lang="es-ES"/>
              <a:pPr>
                <a:defRPr/>
              </a:pPr>
              <a:t>20/01/2026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FB97-061A-4E4E-86D3-853DF03BFC8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grpSp>
        <p:nvGrpSpPr>
          <p:cNvPr id="1033" name="1 Grupo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3" r:id="rId3"/>
    <p:sldLayoutId id="2147483670" r:id="rId4"/>
    <p:sldLayoutId id="2147483669" r:id="rId5"/>
    <p:sldLayoutId id="2147483668" r:id="rId6"/>
    <p:sldLayoutId id="2147483667" r:id="rId7"/>
    <p:sldLayoutId id="2147483666" r:id="rId8"/>
    <p:sldLayoutId id="2147483674" r:id="rId9"/>
    <p:sldLayoutId id="2147483665" r:id="rId10"/>
    <p:sldLayoutId id="2147483664" r:id="rId11"/>
  </p:sldLayoutIdLst>
  <p:transition spd="slow">
    <p:zoom/>
    <p:sndAc>
      <p:stSnd>
        <p:snd r:embed="rId13" name="wind.wav"/>
      </p:stSnd>
    </p:sndAc>
  </p:transition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s-ES" dirty="0"/>
              <a:t>ANGULAR</a:t>
            </a:r>
          </a:p>
        </p:txBody>
      </p:sp>
      <p:sp>
        <p:nvSpPr>
          <p:cNvPr id="14338" name="2 Subtítulo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/>
            <a:r>
              <a:rPr lang="es-ES" dirty="0"/>
              <a:t>9- </a:t>
            </a:r>
            <a:r>
              <a:rPr lang="en-US" dirty="0"/>
              <a:t>Angular Projects and Tools</a:t>
            </a:r>
            <a:endParaRPr lang="es-ES" b="1" dirty="0"/>
          </a:p>
        </p:txBody>
      </p:sp>
    </p:spTree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31905"/>
          </a:xfrm>
        </p:spPr>
        <p:txBody>
          <a:bodyPr/>
          <a:lstStyle/>
          <a:p>
            <a:r>
              <a:rPr lang="es-ES" dirty="0"/>
              <a:t>Abrir un </a:t>
            </a:r>
            <a:r>
              <a:rPr lang="es-ES" i="1" dirty="0" err="1"/>
              <a:t>command</a:t>
            </a:r>
            <a:r>
              <a:rPr lang="es-ES" i="1" dirty="0"/>
              <a:t> </a:t>
            </a:r>
            <a:r>
              <a:rPr lang="es-ES" i="1" dirty="0" err="1"/>
              <a:t>prompt</a:t>
            </a:r>
            <a:r>
              <a:rPr lang="es-ES" dirty="0"/>
              <a:t>, navegar a la carpeta correspondiente y ejecutar : </a:t>
            </a:r>
          </a:p>
          <a:p>
            <a:pPr marL="0" indent="0">
              <a:buNone/>
            </a:pPr>
            <a:r>
              <a:rPr lang="es-ES" sz="2000" b="1" i="1" dirty="0"/>
              <a:t>ng new </a:t>
            </a:r>
            <a:r>
              <a:rPr lang="es-ES" sz="2000" b="1" i="1" dirty="0" err="1"/>
              <a:t>example</a:t>
            </a:r>
            <a:r>
              <a:rPr lang="es-ES" sz="2000" b="1" i="1" dirty="0"/>
              <a:t> --</a:t>
            </a:r>
            <a:r>
              <a:rPr lang="es-ES" sz="2000" b="1" i="1" dirty="0" err="1"/>
              <a:t>routing</a:t>
            </a:r>
            <a:r>
              <a:rPr lang="es-ES" sz="2000" b="1" i="1" dirty="0"/>
              <a:t> false --</a:t>
            </a:r>
            <a:r>
              <a:rPr lang="es-ES" sz="2000" b="1" i="1" dirty="0" err="1"/>
              <a:t>style</a:t>
            </a:r>
            <a:r>
              <a:rPr lang="es-ES" sz="2000" b="1" i="1" dirty="0"/>
              <a:t> </a:t>
            </a:r>
            <a:r>
              <a:rPr lang="es-ES" sz="2000" b="1" i="1" dirty="0" err="1"/>
              <a:t>css</a:t>
            </a:r>
            <a:r>
              <a:rPr lang="es-ES" sz="2000" b="1" i="1" dirty="0"/>
              <a:t> --</a:t>
            </a:r>
            <a:r>
              <a:rPr lang="es-ES" sz="2000" b="1" i="1" dirty="0" err="1"/>
              <a:t>skip-git</a:t>
            </a:r>
            <a:r>
              <a:rPr lang="es-ES" sz="2000" b="1" i="1" dirty="0"/>
              <a:t> --</a:t>
            </a:r>
            <a:r>
              <a:rPr lang="es-ES" sz="2000" b="1" i="1" dirty="0" err="1"/>
              <a:t>skip-tests</a:t>
            </a:r>
            <a:r>
              <a:rPr lang="es-ES" sz="2000" b="1" i="1" dirty="0"/>
              <a:t> </a:t>
            </a:r>
          </a:p>
          <a:p>
            <a:pPr marL="0" indent="0">
              <a:buNone/>
            </a:pPr>
            <a:r>
              <a:rPr lang="es-ES" sz="1800" i="1" dirty="0"/>
              <a:t>No crear sistema de rutas, Usar </a:t>
            </a:r>
            <a:r>
              <a:rPr lang="es-ES" sz="1800" b="1" i="1" dirty="0"/>
              <a:t>CSS puro</a:t>
            </a:r>
            <a:r>
              <a:rPr lang="es-ES" sz="1800" i="1" dirty="0"/>
              <a:t> como lenguaje de estilos, No inicializar un repositorio Git, </a:t>
            </a:r>
            <a:r>
              <a:rPr lang="en-US" sz="1800" i="1" dirty="0"/>
              <a:t>No </a:t>
            </a:r>
            <a:r>
              <a:rPr lang="en-US" sz="1800" i="1" dirty="0" err="1"/>
              <a:t>generar</a:t>
            </a:r>
            <a:r>
              <a:rPr lang="en-US" sz="1800" i="1" dirty="0"/>
              <a:t> </a:t>
            </a:r>
            <a:r>
              <a:rPr lang="en-US" sz="1800" i="1" dirty="0" err="1"/>
              <a:t>archivos</a:t>
            </a:r>
            <a:r>
              <a:rPr lang="en-US" sz="1800" i="1" dirty="0"/>
              <a:t> de testing</a:t>
            </a:r>
            <a:endParaRPr lang="es-ES" sz="1800" i="1" dirty="0"/>
          </a:p>
          <a:p>
            <a:pPr marL="0" indent="0">
              <a:buNone/>
            </a:pPr>
            <a:r>
              <a:rPr lang="es-ES" dirty="0"/>
              <a:t>Ultima versión(si queremos incluir módulos) no recomendado:</a:t>
            </a:r>
          </a:p>
          <a:p>
            <a:pPr marL="0" indent="0">
              <a:buNone/>
            </a:pPr>
            <a:r>
              <a:rPr lang="es-ES" b="1" i="1" dirty="0"/>
              <a:t>ng new </a:t>
            </a:r>
            <a:r>
              <a:rPr lang="es-ES" b="1" i="1" dirty="0" err="1"/>
              <a:t>example</a:t>
            </a:r>
            <a:r>
              <a:rPr lang="es-ES" b="1" i="1" dirty="0"/>
              <a:t> --no-</a:t>
            </a:r>
            <a:r>
              <a:rPr lang="es-ES" b="1" i="1" dirty="0" err="1"/>
              <a:t>standalone</a:t>
            </a:r>
            <a:endParaRPr lang="es-ES" b="1" i="1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En este caso </a:t>
            </a:r>
            <a:r>
              <a:rPr lang="es-ES" b="1" dirty="0" err="1"/>
              <a:t>example</a:t>
            </a:r>
            <a:r>
              <a:rPr lang="es-ES" dirty="0"/>
              <a:t> es el nombre del proyecto.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(Esto crea el proyecto)cd ..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217279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8A07E41-0411-E5DD-E19C-9494479EF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5656" y="980727"/>
            <a:ext cx="5832648" cy="49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05301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2A7EEB-92DC-42E7-ACE6-2F118D1EB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5631904"/>
          </a:xfrm>
        </p:spPr>
        <p:txBody>
          <a:bodyPr/>
          <a:lstStyle/>
          <a:p>
            <a:r>
              <a:rPr lang="es-ES" dirty="0"/>
              <a:t>En </a:t>
            </a:r>
            <a:r>
              <a:rPr lang="es-ES" i="1" dirty="0" err="1"/>
              <a:t>command</a:t>
            </a:r>
            <a:r>
              <a:rPr lang="es-ES" i="1" dirty="0"/>
              <a:t> </a:t>
            </a:r>
            <a:r>
              <a:rPr lang="es-ES" i="1" dirty="0" err="1"/>
              <a:t>prompt</a:t>
            </a:r>
            <a:r>
              <a:rPr lang="es-ES" i="1" dirty="0"/>
              <a:t> s</a:t>
            </a:r>
            <a:r>
              <a:rPr lang="es-ES" dirty="0"/>
              <a:t>ituarse en la carpeta </a:t>
            </a:r>
            <a:r>
              <a:rPr lang="es-ES" dirty="0" err="1"/>
              <a:t>example</a:t>
            </a:r>
            <a:endParaRPr lang="es-ES" dirty="0"/>
          </a:p>
          <a:p>
            <a:r>
              <a:rPr lang="es-ES" dirty="0"/>
              <a:t>. Compilar el proyecto: ejecutar </a:t>
            </a:r>
            <a:r>
              <a:rPr lang="es-ES" b="1" dirty="0"/>
              <a:t>ng serve.</a:t>
            </a:r>
          </a:p>
          <a:p>
            <a:r>
              <a:rPr lang="es-ES" b="1" dirty="0"/>
              <a:t>Sin cerrar </a:t>
            </a:r>
            <a:r>
              <a:rPr lang="es-ES" b="1" dirty="0" err="1"/>
              <a:t>command</a:t>
            </a:r>
            <a:r>
              <a:rPr lang="es-ES" b="1" dirty="0"/>
              <a:t> </a:t>
            </a:r>
            <a:r>
              <a:rPr lang="es-ES" b="1" dirty="0" err="1"/>
              <a:t>prompt</a:t>
            </a:r>
            <a:r>
              <a:rPr lang="es-ES" b="1" dirty="0"/>
              <a:t> Navegar </a:t>
            </a:r>
            <a:r>
              <a:rPr lang="es-ES" b="1" dirty="0">
                <a:sym typeface="Wingdings" panose="05000000000000000000" pitchFamily="2" charset="2"/>
              </a:rPr>
              <a:t> http://localhost:4200/</a:t>
            </a:r>
            <a:endParaRPr lang="es-ES" b="1" dirty="0"/>
          </a:p>
          <a:p>
            <a:pPr marL="0" indent="0">
              <a:buNone/>
            </a:pP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B97F7E-4D9E-E24A-0829-A277DC9803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76" t="17442" r="49212" b="9302"/>
          <a:stretch/>
        </p:blipFill>
        <p:spPr>
          <a:xfrm>
            <a:off x="827584" y="2564904"/>
            <a:ext cx="6984776" cy="39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96123"/>
      </p:ext>
    </p:extLst>
  </p:cSld>
  <p:clrMapOvr>
    <a:masterClrMapping/>
  </p:clrMapOvr>
  <p:transition spd="slow">
    <p:zoom/>
    <p:sndAc>
      <p:stSnd>
        <p:snd r:embed="rId3" name="wind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BFC2B-D491-4FDB-B8C9-30B137ED9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4158"/>
            <a:ext cx="8229600" cy="5750443"/>
          </a:xfrm>
        </p:spPr>
        <p:txBody>
          <a:bodyPr/>
          <a:lstStyle/>
          <a:p>
            <a:r>
              <a:rPr lang="es-ES" dirty="0"/>
              <a:t>Abrir el proyecto con Visual Studio</a:t>
            </a:r>
          </a:p>
          <a:p>
            <a:r>
              <a:rPr lang="es-ES" dirty="0"/>
              <a:t>Reemplazar el contenido del fichero </a:t>
            </a:r>
            <a:r>
              <a:rPr lang="es-ES" b="1" dirty="0"/>
              <a:t>app.html</a:t>
            </a:r>
            <a:r>
              <a:rPr lang="es-ES" dirty="0"/>
              <a:t> en la carpeta </a:t>
            </a:r>
            <a:r>
              <a:rPr lang="es-ES" b="1" dirty="0" err="1"/>
              <a:t>src</a:t>
            </a:r>
            <a:r>
              <a:rPr lang="es-ES" b="1" dirty="0"/>
              <a:t>/app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s-E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s-E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s-E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s-E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Hot Module Replacement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s-ES" sz="2400" i="1" dirty="0"/>
              <a:t>(Tan pronto como se haya salvado, los cambios son detectados)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E19D69-765F-4305-983D-FE79DD1FE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9" y="4941168"/>
            <a:ext cx="8037681" cy="1152128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3347864" y="4293096"/>
            <a:ext cx="159452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visualizar</a:t>
            </a:r>
          </a:p>
        </p:txBody>
      </p:sp>
    </p:spTree>
    <p:extLst>
      <p:ext uri="{BB962C8B-B14F-4D97-AF65-F5344CB8AC3E}">
        <p14:creationId xmlns:p14="http://schemas.microsoft.com/office/powerpoint/2010/main" val="40705838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868EE4-61B5-4576-8683-4DD17083D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135961"/>
          </a:xfrm>
        </p:spPr>
        <p:txBody>
          <a:bodyPr/>
          <a:lstStyle/>
          <a:p>
            <a:pPr marL="0" indent="0">
              <a:buNone/>
            </a:pPr>
            <a:r>
              <a:rPr lang="es-ES" u="sng" dirty="0"/>
              <a:t>¿Como trabaja una Aplicación Angular?</a:t>
            </a:r>
          </a:p>
          <a:p>
            <a:pPr marL="0" indent="0">
              <a:buNone/>
            </a:pPr>
            <a:r>
              <a:rPr lang="es-ES" dirty="0"/>
              <a:t>1. Cuando el browser lanza </a:t>
            </a:r>
            <a:r>
              <a:rPr lang="es-ES" b="1" dirty="0"/>
              <a:t>http://localhost:4200/, </a:t>
            </a:r>
            <a:r>
              <a:rPr lang="es-ES" dirty="0"/>
              <a:t>el servidor responde con el fichero </a:t>
            </a:r>
            <a:r>
              <a:rPr lang="es-ES" b="1" dirty="0"/>
              <a:t>index.html </a:t>
            </a:r>
            <a:r>
              <a:rPr lang="es-ES" dirty="0"/>
              <a:t>en la carpeta </a:t>
            </a:r>
            <a:r>
              <a:rPr lang="es-ES" b="1" dirty="0" err="1"/>
              <a:t>src</a:t>
            </a:r>
            <a:r>
              <a:rPr lang="es-ES" b="1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D9138C-AAB3-4BF5-BB23-07B1B892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924472"/>
            <a:ext cx="8477950" cy="3736776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95ED325-24DE-4D13-A2AC-6CABA573261B}"/>
              </a:ext>
            </a:extLst>
          </p:cNvPr>
          <p:cNvCxnSpPr/>
          <p:nvPr/>
        </p:nvCxnSpPr>
        <p:spPr>
          <a:xfrm flipV="1">
            <a:off x="2699792" y="5013176"/>
            <a:ext cx="0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2D3A983-D409-4A6B-8ECA-66EAED30E3E4}"/>
              </a:ext>
            </a:extLst>
          </p:cNvPr>
          <p:cNvCxnSpPr/>
          <p:nvPr/>
        </p:nvCxnSpPr>
        <p:spPr>
          <a:xfrm>
            <a:off x="2699792" y="5949280"/>
            <a:ext cx="10801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26A49E4-FAB8-4380-84C7-3CE5027C8EA7}"/>
              </a:ext>
            </a:extLst>
          </p:cNvPr>
          <p:cNvSpPr txBox="1"/>
          <p:nvPr/>
        </p:nvSpPr>
        <p:spPr>
          <a:xfrm>
            <a:off x="3851920" y="5764614"/>
            <a:ext cx="4176462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Sólo contiene un elemento &lt;app-</a:t>
            </a:r>
            <a:r>
              <a:rPr lang="es-ES" dirty="0" err="1"/>
              <a:t>root</a:t>
            </a:r>
            <a:r>
              <a:rPr lang="es-E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14709558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DDC31-FA30-088B-6BA8-5883C0861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9"/>
            <a:ext cx="8229600" cy="606395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err="1"/>
              <a:t>tsconfig.json</a:t>
            </a:r>
            <a:endParaRPr lang="en-US" sz="1600" dirty="0"/>
          </a:p>
          <a:p>
            <a:pPr marL="0" indent="0">
              <a:buNone/>
            </a:pPr>
            <a:r>
              <a:rPr lang="en-NL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compileOnSave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compilerOptions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"strict"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noImplicitOverride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noPropertyAccessFromIndexSignature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noImplicitReturns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noFallthroughCasesInSwitch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skipLibCheck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isolatedModules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experimentalDecorators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importHelpers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"target"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"ES2022"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"module"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"esnext"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moduleResolution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"node"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NL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angularCompilerOptions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"enableI18nLegacyMessageIdFormat"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strictInjectionParameters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strictInputAccessModifiers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typeCheckHostBindings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strictTemplates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NL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[],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"references"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"path"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tsconfig.app.json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pPr marL="0" indent="0">
              <a:buNone/>
            </a:pPr>
            <a:r>
              <a:rPr lang="en-NL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]</a:t>
            </a:r>
          </a:p>
          <a:p>
            <a:pPr marL="0" indent="0">
              <a:buNone/>
            </a:pPr>
            <a:r>
              <a:rPr lang="en-NL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NL" sz="11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7D9F3E-64BB-41DC-9CC9-B6A74218FBC6}"/>
              </a:ext>
            </a:extLst>
          </p:cNvPr>
          <p:cNvSpPr/>
          <p:nvPr/>
        </p:nvSpPr>
        <p:spPr>
          <a:xfrm>
            <a:off x="467544" y="3140968"/>
            <a:ext cx="295232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BBBBEB-1F27-4D11-A81E-918C61A6DDFC}"/>
              </a:ext>
            </a:extLst>
          </p:cNvPr>
          <p:cNvSpPr txBox="1"/>
          <p:nvPr/>
        </p:nvSpPr>
        <p:spPr>
          <a:xfrm>
            <a:off x="3635896" y="3239107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 err="1">
                <a:sym typeface="Wingdings" panose="05000000000000000000" pitchFamily="2" charset="2"/>
              </a:rPr>
              <a:t>Resuelve</a:t>
            </a:r>
            <a:r>
              <a:rPr lang="en-US" sz="1400" dirty="0">
                <a:sym typeface="Wingdings" panose="05000000000000000000" pitchFamily="2" charset="2"/>
              </a:rPr>
              <a:t> los imports/exports </a:t>
            </a:r>
            <a:endParaRPr lang="en-NL" sz="1400" dirty="0"/>
          </a:p>
        </p:txBody>
      </p:sp>
    </p:spTree>
    <p:extLst>
      <p:ext uri="{BB962C8B-B14F-4D97-AF65-F5344CB8AC3E}">
        <p14:creationId xmlns:p14="http://schemas.microsoft.com/office/powerpoint/2010/main" val="1275753783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6D434-3801-4AD2-80A7-D34D47701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19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r>
              <a:rPr kumimoji="0" lang="es-ES" sz="2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AppComponent</a:t>
            </a:r>
            <a:r>
              <a:rPr kumimoji="0" lang="es-E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está definido en </a:t>
            </a:r>
            <a:r>
              <a:rPr kumimoji="0" lang="es-E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app.ts</a:t>
            </a:r>
            <a:r>
              <a:rPr kumimoji="0" lang="es-E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</a:t>
            </a:r>
            <a:r>
              <a:rPr kumimoji="0" lang="es-E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en la carpeta </a:t>
            </a:r>
            <a:r>
              <a:rPr kumimoji="0" lang="es-E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src</a:t>
            </a:r>
            <a:r>
              <a:rPr kumimoji="0" lang="es-E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/app</a:t>
            </a:r>
          </a:p>
          <a:p>
            <a:pPr marL="0" indent="0">
              <a:buNone/>
            </a:pPr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Component, signal }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'@angular/core'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selector: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'app-root'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imports: [],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templateUrl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'./app.html'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styleUrl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'./app.css'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NL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title = signal(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'example'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NL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NL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4330A2-41E2-49EA-A32D-DBDF1C84956D}"/>
              </a:ext>
            </a:extLst>
          </p:cNvPr>
          <p:cNvSpPr txBox="1"/>
          <p:nvPr/>
        </p:nvSpPr>
        <p:spPr>
          <a:xfrm>
            <a:off x="3419872" y="2276872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ym typeface="Wingdings" panose="05000000000000000000" pitchFamily="2" charset="2"/>
              </a:rPr>
              <a:t> Este </a:t>
            </a:r>
            <a:r>
              <a:rPr lang="en-US" sz="1200" dirty="0" err="1">
                <a:sym typeface="Wingdings" panose="05000000000000000000" pitchFamily="2" charset="2"/>
              </a:rPr>
              <a:t>componente</a:t>
            </a:r>
            <a:r>
              <a:rPr lang="en-US" sz="1200" dirty="0">
                <a:sym typeface="Wingdings" panose="05000000000000000000" pitchFamily="2" charset="2"/>
              </a:rPr>
              <a:t> se </a:t>
            </a:r>
            <a:r>
              <a:rPr lang="en-US" sz="1200" dirty="0" err="1">
                <a:sym typeface="Wingdings" panose="05000000000000000000" pitchFamily="2" charset="2"/>
              </a:rPr>
              <a:t>usa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en</a:t>
            </a:r>
            <a:r>
              <a:rPr lang="en-US" sz="1200" dirty="0">
                <a:sym typeface="Wingdings" panose="05000000000000000000" pitchFamily="2" charset="2"/>
              </a:rPr>
              <a:t> HTML </a:t>
            </a:r>
            <a:r>
              <a:rPr lang="en-US" sz="1200" dirty="0" err="1">
                <a:sym typeface="Wingdings" panose="05000000000000000000" pitchFamily="2" charset="2"/>
              </a:rPr>
              <a:t>como</a:t>
            </a:r>
            <a:r>
              <a:rPr lang="en-US" sz="1200" dirty="0">
                <a:sym typeface="Wingdings" panose="05000000000000000000" pitchFamily="2" charset="2"/>
              </a:rPr>
              <a:t> &lt;app-root&gt;&lt;/app-root&gt;</a:t>
            </a:r>
            <a:endParaRPr lang="en-NL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D35673-4392-4A8C-821E-751DD7585D81}"/>
              </a:ext>
            </a:extLst>
          </p:cNvPr>
          <p:cNvSpPr txBox="1"/>
          <p:nvPr/>
        </p:nvSpPr>
        <p:spPr>
          <a:xfrm>
            <a:off x="2267744" y="2553871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ym typeface="Wingdings" panose="05000000000000000000" pitchFamily="2" charset="2"/>
              </a:rPr>
              <a:t> El template </a:t>
            </a:r>
            <a:r>
              <a:rPr lang="en-US" sz="1200" dirty="0" err="1">
                <a:sym typeface="Wingdings" panose="05000000000000000000" pitchFamily="2" charset="2"/>
              </a:rPr>
              <a:t>esta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vacio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porque</a:t>
            </a:r>
            <a:r>
              <a:rPr lang="en-US" sz="1200" dirty="0">
                <a:sym typeface="Wingdings" panose="05000000000000000000" pitchFamily="2" charset="2"/>
              </a:rPr>
              <a:t> no </a:t>
            </a:r>
            <a:r>
              <a:rPr lang="en-US" sz="1200" dirty="0" err="1">
                <a:sym typeface="Wingdings" panose="05000000000000000000" pitchFamily="2" charset="2"/>
              </a:rPr>
              <a:t>usa</a:t>
            </a:r>
            <a:r>
              <a:rPr lang="en-US" sz="1200" dirty="0">
                <a:sym typeface="Wingdings" panose="05000000000000000000" pitchFamily="2" charset="2"/>
              </a:rPr>
              <a:t> nada </a:t>
            </a:r>
            <a:r>
              <a:rPr lang="en-US" sz="1200" dirty="0" err="1">
                <a:sym typeface="Wingdings" panose="05000000000000000000" pitchFamily="2" charset="2"/>
              </a:rPr>
              <a:t>externo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aún</a:t>
            </a:r>
            <a:endParaRPr lang="en-NL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81F7D4-3925-49C1-9863-7DE18E281DAE}"/>
              </a:ext>
            </a:extLst>
          </p:cNvPr>
          <p:cNvSpPr txBox="1"/>
          <p:nvPr/>
        </p:nvSpPr>
        <p:spPr>
          <a:xfrm>
            <a:off x="3851920" y="2846497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ym typeface="Wingdings" panose="05000000000000000000" pitchFamily="2" charset="2"/>
              </a:rPr>
              <a:t> El HTML de </a:t>
            </a:r>
            <a:r>
              <a:rPr lang="en-US" sz="1200" dirty="0" err="1">
                <a:sym typeface="Wingdings" panose="05000000000000000000" pitchFamily="2" charset="2"/>
              </a:rPr>
              <a:t>este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componente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está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el</a:t>
            </a:r>
            <a:r>
              <a:rPr lang="en-US" sz="1200" dirty="0">
                <a:sym typeface="Wingdings" panose="05000000000000000000" pitchFamily="2" charset="2"/>
              </a:rPr>
              <a:t> archive app.html</a:t>
            </a:r>
            <a:endParaRPr lang="en-NL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999202-6234-4204-9CEB-46563F95C025}"/>
              </a:ext>
            </a:extLst>
          </p:cNvPr>
          <p:cNvSpPr txBox="1"/>
          <p:nvPr/>
        </p:nvSpPr>
        <p:spPr>
          <a:xfrm>
            <a:off x="3419872" y="3152001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ym typeface="Wingdings" panose="05000000000000000000" pitchFamily="2" charset="2"/>
              </a:rPr>
              <a:t> Los </a:t>
            </a:r>
            <a:r>
              <a:rPr lang="en-US" sz="1200" dirty="0" err="1">
                <a:sym typeface="Wingdings" panose="05000000000000000000" pitchFamily="2" charset="2"/>
              </a:rPr>
              <a:t>estilos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css</a:t>
            </a:r>
            <a:r>
              <a:rPr lang="en-US" sz="1200" dirty="0">
                <a:sym typeface="Wingdings" panose="05000000000000000000" pitchFamily="2" charset="2"/>
              </a:rPr>
              <a:t> de </a:t>
            </a:r>
            <a:r>
              <a:rPr lang="en-US" sz="1200" dirty="0" err="1">
                <a:sym typeface="Wingdings" panose="05000000000000000000" pitchFamily="2" charset="2"/>
              </a:rPr>
              <a:t>este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componente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están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el</a:t>
            </a:r>
            <a:r>
              <a:rPr lang="en-US" sz="1200" dirty="0">
                <a:sym typeface="Wingdings" panose="05000000000000000000" pitchFamily="2" charset="2"/>
              </a:rPr>
              <a:t> archive app.css</a:t>
            </a:r>
            <a:endParaRPr lang="en-NL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009C971-2A0B-4202-8EAD-02CAEF36961D}"/>
              </a:ext>
            </a:extLst>
          </p:cNvPr>
          <p:cNvSpPr txBox="1"/>
          <p:nvPr/>
        </p:nvSpPr>
        <p:spPr>
          <a:xfrm>
            <a:off x="899592" y="4797152"/>
            <a:ext cx="662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Esto</a:t>
            </a:r>
            <a:r>
              <a:rPr lang="en-US" sz="1600" dirty="0"/>
              <a:t> </a:t>
            </a:r>
            <a:r>
              <a:rPr lang="en-US" sz="1600" dirty="0" err="1"/>
              <a:t>crea</a:t>
            </a:r>
            <a:r>
              <a:rPr lang="en-US" sz="1600" dirty="0"/>
              <a:t> un signal reactive </a:t>
            </a:r>
            <a:r>
              <a:rPr lang="en-US" sz="1600" dirty="0" err="1"/>
              <a:t>llamado</a:t>
            </a:r>
            <a:r>
              <a:rPr lang="en-US" sz="1600" dirty="0"/>
              <a:t> title con valor </a:t>
            </a:r>
            <a:r>
              <a:rPr lang="en-US" sz="1600" dirty="0" err="1"/>
              <a:t>inicial</a:t>
            </a:r>
            <a:r>
              <a:rPr lang="en-US" sz="1600" dirty="0"/>
              <a:t> example, es </a:t>
            </a:r>
            <a:r>
              <a:rPr lang="en-US" sz="1600" dirty="0" err="1"/>
              <a:t>como</a:t>
            </a:r>
            <a:r>
              <a:rPr lang="en-US" sz="1600" dirty="0"/>
              <a:t> </a:t>
            </a:r>
            <a:r>
              <a:rPr lang="en-US" sz="1600" dirty="0" err="1"/>
              <a:t>decir</a:t>
            </a:r>
            <a:r>
              <a:rPr lang="en-US" sz="1600" dirty="0"/>
              <a:t>, let title=‘example’ </a:t>
            </a:r>
            <a:r>
              <a:rPr lang="en-US" sz="1600" dirty="0" err="1"/>
              <a:t>pero</a:t>
            </a:r>
            <a:r>
              <a:rPr lang="en-US" sz="1600" dirty="0"/>
              <a:t> reactive </a:t>
            </a:r>
            <a:r>
              <a:rPr lang="en-US" sz="1600" dirty="0" err="1"/>
              <a:t>cuando</a:t>
            </a:r>
            <a:r>
              <a:rPr lang="en-US" sz="1600" dirty="0"/>
              <a:t> title cambia angular </a:t>
            </a:r>
            <a:r>
              <a:rPr lang="en-US" sz="1600" dirty="0" err="1"/>
              <a:t>actualiza</a:t>
            </a:r>
            <a:r>
              <a:rPr lang="en-US" sz="1600" dirty="0"/>
              <a:t> </a:t>
            </a:r>
            <a:r>
              <a:rPr lang="en-US" sz="1600" dirty="0" err="1"/>
              <a:t>automaticamente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template</a:t>
            </a:r>
            <a:endParaRPr lang="en-NL" sz="16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2EE8706-928B-485B-A5D0-1221DB77690C}"/>
              </a:ext>
            </a:extLst>
          </p:cNvPr>
          <p:cNvCxnSpPr/>
          <p:nvPr/>
        </p:nvCxnSpPr>
        <p:spPr>
          <a:xfrm>
            <a:off x="3851920" y="4365104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600808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343B85-15CB-4926-AB4D-AA6BFE50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20796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err="1"/>
              <a:t>En</a:t>
            </a:r>
            <a:r>
              <a:rPr lang="en-US" sz="1800" dirty="0"/>
              <a:t> Angular 19</a:t>
            </a:r>
          </a:p>
          <a:p>
            <a:pPr marL="0" indent="0">
              <a:buNone/>
            </a:pPr>
            <a:r>
              <a:rPr lang="en-US" sz="1800" b="1" i="1" dirty="0">
                <a:sym typeface="Wingdings" panose="05000000000000000000" pitchFamily="2" charset="2"/>
              </a:rPr>
              <a:t> </a:t>
            </a:r>
            <a:r>
              <a:rPr lang="en-US" sz="1800" b="1" i="1" dirty="0" err="1">
                <a:sym typeface="Wingdings" panose="05000000000000000000" pitchFamily="2" charset="2"/>
              </a:rPr>
              <a:t>main.ts</a:t>
            </a:r>
            <a:endParaRPr lang="en-US" sz="1800" b="1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la función que arranca (</a:t>
            </a:r>
            <a:r>
              <a:rPr lang="es-E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una aplicación Angular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en el navegador usando el nuevo sistema sin </a:t>
            </a:r>
            <a:r>
              <a:rPr lang="es-E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NgModule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bootstrapApplication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'@angular/platform-browser'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la configuración global de la app (</a:t>
            </a:r>
            <a:r>
              <a:rPr lang="es-E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providers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s-E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routing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etc.)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'./app/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app.config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el componente raíz de la aplicación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App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'./app/app'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NL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Arranca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aplicación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Angular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como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componente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raíz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(&lt;app-root&gt;&lt;/app-root&gt;)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Usa </a:t>
            </a:r>
            <a:r>
              <a:rPr lang="es-E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como configuración global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bootstrapApplication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NL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Si ocurre algún error durante el arranque,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s-E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lo captura y lo muestra por consola</a:t>
            </a:r>
            <a:endParaRPr lang="es-E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.catch((err) =&gt;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.error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(err));</a:t>
            </a:r>
            <a:endParaRPr lang="en-US" sz="1400" b="1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0439944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590FCA-E410-4E2C-AF93-7C3CE02F7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91945"/>
          </a:xfrm>
        </p:spPr>
        <p:txBody>
          <a:bodyPr/>
          <a:lstStyle/>
          <a:p>
            <a:pPr marL="0" indent="0">
              <a:buNone/>
            </a:pPr>
            <a:r>
              <a:rPr lang="es-ES" u="sng" dirty="0"/>
              <a:t>Añadir el </a:t>
            </a:r>
            <a:r>
              <a:rPr lang="es-ES" u="sng" dirty="0" err="1"/>
              <a:t>framework</a:t>
            </a:r>
            <a:r>
              <a:rPr lang="es-ES" u="sng" dirty="0"/>
              <a:t> CSS </a:t>
            </a:r>
            <a:r>
              <a:rPr lang="es-ES" i="1" u="sng" dirty="0" err="1"/>
              <a:t>bootstrap</a:t>
            </a:r>
            <a:r>
              <a:rPr lang="es-ES" dirty="0"/>
              <a:t>.</a:t>
            </a:r>
          </a:p>
          <a:p>
            <a:r>
              <a:rPr lang="es-ES" dirty="0"/>
              <a:t>Parar momentáneamente la compilación </a:t>
            </a:r>
            <a:r>
              <a:rPr lang="es-ES" dirty="0" err="1"/>
              <a:t>Ctrl+C</a:t>
            </a:r>
            <a:endParaRPr lang="es-ES" dirty="0"/>
          </a:p>
          <a:p>
            <a:r>
              <a:rPr lang="es-ES" dirty="0"/>
              <a:t>En la carpeta del proyecto : </a:t>
            </a:r>
            <a:r>
              <a:rPr lang="es-ES" b="1" dirty="0" err="1"/>
              <a:t>npm</a:t>
            </a:r>
            <a:r>
              <a:rPr lang="es-ES" b="1" dirty="0"/>
              <a:t> i </a:t>
            </a:r>
            <a:r>
              <a:rPr lang="es-ES" b="1" dirty="0" err="1"/>
              <a:t>bootstrap@latest</a:t>
            </a:r>
            <a:endParaRPr lang="es-ES" b="1" dirty="0"/>
          </a:p>
          <a:p>
            <a:r>
              <a:rPr lang="es-ES" dirty="0"/>
              <a:t>Configurar fichero CSS en </a:t>
            </a:r>
            <a:r>
              <a:rPr lang="es-ES" b="1" dirty="0" err="1"/>
              <a:t>angular.json</a:t>
            </a:r>
            <a:r>
              <a:rPr lang="es-ES" b="1" dirty="0"/>
              <a:t> </a:t>
            </a:r>
            <a:r>
              <a:rPr lang="es-ES" dirty="0"/>
              <a:t>en la carpeta raíz del proyecto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sz="1400" dirty="0"/>
              <a:t>Guardar y Volver a compilar </a:t>
            </a:r>
            <a:r>
              <a:rPr lang="es-ES" sz="1400" b="1" dirty="0"/>
              <a:t>ng serve </a:t>
            </a:r>
            <a:r>
              <a:rPr lang="es-ES" sz="1400" dirty="0"/>
              <a:t>para actualizar los cambios</a:t>
            </a:r>
          </a:p>
          <a:p>
            <a:endParaRPr lang="es-ES" sz="1400" dirty="0"/>
          </a:p>
          <a:p>
            <a:pPr marL="0" indent="0">
              <a:buNone/>
            </a:pPr>
            <a:endParaRPr lang="es-ES" dirty="0"/>
          </a:p>
          <a:p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C4AF71-F40B-4B82-AC48-C76597C22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140969"/>
            <a:ext cx="7382587" cy="2952328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CCD6E20-3C9E-413B-AAB9-1C9254D4AEE6}"/>
              </a:ext>
            </a:extLst>
          </p:cNvPr>
          <p:cNvCxnSpPr/>
          <p:nvPr/>
        </p:nvCxnSpPr>
        <p:spPr>
          <a:xfrm flipH="1">
            <a:off x="5148064" y="4365104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B05D94E-6AC4-4CB2-927D-5B2644BBF3FD}"/>
              </a:ext>
            </a:extLst>
          </p:cNvPr>
          <p:cNvCxnSpPr>
            <a:cxnSpLocks/>
          </p:cNvCxnSpPr>
          <p:nvPr/>
        </p:nvCxnSpPr>
        <p:spPr>
          <a:xfrm flipV="1">
            <a:off x="6084168" y="2924944"/>
            <a:ext cx="0" cy="1440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0CC0AC6-08A6-4909-BCDE-6527E6EDB475}"/>
              </a:ext>
            </a:extLst>
          </p:cNvPr>
          <p:cNvSpPr txBox="1"/>
          <p:nvPr/>
        </p:nvSpPr>
        <p:spPr>
          <a:xfrm>
            <a:off x="2843808" y="2555612"/>
            <a:ext cx="615617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/>
              <a:t>"</a:t>
            </a:r>
            <a:r>
              <a:rPr lang="es-ES" b="1" dirty="0" err="1"/>
              <a:t>node_modules</a:t>
            </a:r>
            <a:r>
              <a:rPr lang="es-ES" b="1" dirty="0"/>
              <a:t>/</a:t>
            </a:r>
            <a:r>
              <a:rPr lang="es-ES" b="1" dirty="0" err="1"/>
              <a:t>bootstrap</a:t>
            </a:r>
            <a:r>
              <a:rPr lang="es-ES" b="1" dirty="0"/>
              <a:t>/</a:t>
            </a:r>
            <a:r>
              <a:rPr lang="es-ES" b="1" dirty="0" err="1"/>
              <a:t>dist</a:t>
            </a:r>
            <a:r>
              <a:rPr lang="es-ES" b="1" dirty="0"/>
              <a:t>/</a:t>
            </a:r>
            <a:r>
              <a:rPr lang="es-ES" b="1" dirty="0" err="1"/>
              <a:t>css</a:t>
            </a:r>
            <a:r>
              <a:rPr lang="es-ES" b="1" dirty="0"/>
              <a:t>/bootstrap.min.css"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FC7395-1C7C-4FF4-A0BA-FC81BCB357A9}"/>
              </a:ext>
            </a:extLst>
          </p:cNvPr>
          <p:cNvSpPr txBox="1"/>
          <p:nvPr/>
        </p:nvSpPr>
        <p:spPr>
          <a:xfrm>
            <a:off x="3707904" y="454977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Ojo: “</a:t>
            </a:r>
            <a:r>
              <a:rPr lang="es-ES" dirty="0" err="1"/>
              <a:t>styles</a:t>
            </a:r>
            <a:r>
              <a:rPr lang="es-ES" dirty="0"/>
              <a:t>” de “</a:t>
            </a:r>
            <a:r>
              <a:rPr lang="es-ES" dirty="0" err="1"/>
              <a:t>projects</a:t>
            </a:r>
            <a:r>
              <a:rPr lang="es-ES" dirty="0"/>
              <a:t>” no de “test”</a:t>
            </a:r>
          </a:p>
        </p:txBody>
      </p:sp>
    </p:spTree>
    <p:extLst>
      <p:ext uri="{BB962C8B-B14F-4D97-AF65-F5344CB8AC3E}">
        <p14:creationId xmlns:p14="http://schemas.microsoft.com/office/powerpoint/2010/main" val="218584582"/>
      </p:ext>
    </p:extLst>
  </p:cSld>
  <p:clrMapOvr>
    <a:masterClrMapping/>
  </p:clrMapOvr>
  <p:transition spd="slow">
    <p:zoom/>
    <p:sndAc>
      <p:stSnd>
        <p:snd r:embed="rId3" name="wind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A7990-15EA-4703-B2C2-AFE455957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19937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Crear dos carpetas en </a:t>
            </a:r>
            <a:r>
              <a:rPr lang="es-ES" dirty="0" err="1"/>
              <a:t>src</a:t>
            </a:r>
            <a:r>
              <a:rPr lang="es-ES" dirty="0"/>
              <a:t>: data y </a:t>
            </a:r>
            <a:r>
              <a:rPr lang="es-ES" dirty="0" err="1"/>
              <a:t>repository</a:t>
            </a:r>
            <a:endParaRPr lang="es-ES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r>
              <a:rPr lang="es-ES" u="sng" dirty="0"/>
              <a:t>Creación del </a:t>
            </a:r>
            <a:r>
              <a:rPr lang="es-ES" b="1" u="sng" dirty="0"/>
              <a:t>Data </a:t>
            </a:r>
            <a:r>
              <a:rPr lang="es-ES" b="1" u="sng" dirty="0" err="1"/>
              <a:t>Model</a:t>
            </a:r>
            <a:endParaRPr lang="es-ES" b="1" u="sng" dirty="0"/>
          </a:p>
          <a:p>
            <a:r>
              <a:rPr lang="es-ES" dirty="0"/>
              <a:t>Tres partes diferentes:</a:t>
            </a:r>
          </a:p>
          <a:p>
            <a:pPr marL="0" indent="0">
              <a:buNone/>
            </a:pPr>
            <a:r>
              <a:rPr lang="es-ES" dirty="0"/>
              <a:t>1. Una </a:t>
            </a:r>
            <a:r>
              <a:rPr lang="es-ES" u="sng" dirty="0"/>
              <a:t>clase</a:t>
            </a:r>
            <a:r>
              <a:rPr lang="es-ES" dirty="0"/>
              <a:t> que describe los datos en el modelo</a:t>
            </a:r>
          </a:p>
          <a:p>
            <a:pPr marL="0" indent="0">
              <a:buNone/>
            </a:pPr>
            <a:r>
              <a:rPr lang="es-ES" dirty="0"/>
              <a:t>2. Un </a:t>
            </a:r>
            <a:r>
              <a:rPr lang="es-ES" u="sng" dirty="0"/>
              <a:t>data </a:t>
            </a:r>
            <a:r>
              <a:rPr lang="es-ES" u="sng" dirty="0" err="1"/>
              <a:t>source</a:t>
            </a:r>
            <a:r>
              <a:rPr lang="es-ES" u="sng" dirty="0"/>
              <a:t> </a:t>
            </a:r>
            <a:r>
              <a:rPr lang="es-ES" dirty="0"/>
              <a:t>que carga y salva datos a un server.</a:t>
            </a:r>
          </a:p>
          <a:p>
            <a:pPr marL="0" indent="0">
              <a:buNone/>
            </a:pPr>
            <a:r>
              <a:rPr lang="es-ES" dirty="0"/>
              <a:t>3. Un </a:t>
            </a:r>
            <a:r>
              <a:rPr lang="es-ES" u="sng" dirty="0"/>
              <a:t>repositorio</a:t>
            </a:r>
            <a:r>
              <a:rPr lang="es-ES" dirty="0"/>
              <a:t> que permite la manipulación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899305674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A601D-4022-436A-A483-C78D553B6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5631904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1. </a:t>
            </a:r>
            <a:r>
              <a:rPr lang="es-ES" u="sng" dirty="0" err="1"/>
              <a:t>Model</a:t>
            </a:r>
            <a:r>
              <a:rPr lang="es-ES" u="sng" dirty="0"/>
              <a:t> </a:t>
            </a:r>
            <a:r>
              <a:rPr lang="es-ES" u="sng" dirty="0" err="1"/>
              <a:t>class</a:t>
            </a:r>
            <a:r>
              <a:rPr lang="es-ES" dirty="0"/>
              <a:t>: describe los datos de la aplicación   </a:t>
            </a:r>
          </a:p>
          <a:p>
            <a:pPr marL="0" indent="0">
              <a:buNone/>
            </a:pP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</a:t>
            </a:r>
            <a:r>
              <a:rPr lang="es-ES" b="1" dirty="0" err="1"/>
              <a:t>product.model.ts</a:t>
            </a:r>
            <a:r>
              <a:rPr lang="es-ES" b="1" dirty="0"/>
              <a:t> </a:t>
            </a:r>
            <a:r>
              <a:rPr lang="es-ES" dirty="0"/>
              <a:t>en la carpeta </a:t>
            </a:r>
            <a:r>
              <a:rPr lang="es-ES" b="1" dirty="0" err="1"/>
              <a:t>src</a:t>
            </a:r>
            <a:r>
              <a:rPr lang="es-ES" b="1" dirty="0"/>
              <a:t>/data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Product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id?: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?: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category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?: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?: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) { }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2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87CFB0-0EBB-488F-A6FB-8CDC4A2E8FE2}"/>
              </a:ext>
            </a:extLst>
          </p:cNvPr>
          <p:cNvSpPr txBox="1"/>
          <p:nvPr/>
        </p:nvSpPr>
        <p:spPr>
          <a:xfrm>
            <a:off x="683568" y="5085184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NOTA: Las propiedades se definen como opcionales (?), esto es útil para crear formularios HTML</a:t>
            </a:r>
          </a:p>
        </p:txBody>
      </p:sp>
    </p:spTree>
    <p:extLst>
      <p:ext uri="{BB962C8B-B14F-4D97-AF65-F5344CB8AC3E}">
        <p14:creationId xmlns:p14="http://schemas.microsoft.com/office/powerpoint/2010/main" val="3792504152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E7E27C-04B4-439A-A184-3CE110877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60648"/>
            <a:ext cx="8229600" cy="584792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2. </a:t>
            </a:r>
            <a:r>
              <a:rPr lang="es-ES" u="sng" dirty="0"/>
              <a:t>Data </a:t>
            </a:r>
            <a:r>
              <a:rPr lang="es-ES" u="sng" dirty="0" err="1"/>
              <a:t>Source</a:t>
            </a:r>
            <a:r>
              <a:rPr lang="es-ES" dirty="0"/>
              <a:t>: proporciona datos a la aplicación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b="1" dirty="0" err="1"/>
              <a:t>datasource.model.ts</a:t>
            </a:r>
            <a:r>
              <a:rPr lang="es-ES" b="1" dirty="0"/>
              <a:t> </a:t>
            </a:r>
            <a:r>
              <a:rPr lang="es-ES" dirty="0"/>
              <a:t>en carpeta </a:t>
            </a:r>
            <a:r>
              <a:rPr lang="es-ES" b="1" dirty="0" err="1"/>
              <a:t>src</a:t>
            </a:r>
            <a:r>
              <a:rPr lang="es-ES" b="1" dirty="0"/>
              <a:t>/data</a:t>
            </a:r>
          </a:p>
          <a:p>
            <a:pPr marL="0" indent="0" algn="ctr">
              <a:buNone/>
            </a:pPr>
            <a:r>
              <a:rPr lang="es-ES" sz="1600" b="1" dirty="0">
                <a:solidFill>
                  <a:srgbClr val="FF0000"/>
                </a:solidFill>
              </a:rPr>
              <a:t>(Listado 9.1)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Product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"./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product.model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SimpleDataSource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data: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pPr marL="0" indent="0">
              <a:buNone/>
            </a:pP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Array&lt;Product&gt;(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Product(1,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"Kayak"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"Watersports"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275),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Product(2,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"Lifejacket"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"Watersports"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48.95),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Product(3,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"Soccer Ball"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"Soccer"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19.50),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Product(4,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"Corner Flags"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"Soccer"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34.95),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Product(5,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"Thinking Cap"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"Chess"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16));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getData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{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651276414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26A2A1-BE26-4448-BDA7-A718F601C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1857"/>
            <a:ext cx="8229600" cy="588344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3. </a:t>
            </a:r>
            <a:r>
              <a:rPr lang="es-ES" u="sng" dirty="0" err="1"/>
              <a:t>Model</a:t>
            </a:r>
            <a:r>
              <a:rPr lang="es-ES" u="sng" dirty="0"/>
              <a:t> </a:t>
            </a:r>
            <a:r>
              <a:rPr lang="es-ES" u="sng" dirty="0" err="1"/>
              <a:t>Repository</a:t>
            </a:r>
            <a:r>
              <a:rPr lang="es-ES" dirty="0"/>
              <a:t>: permite la manipulación de los datos por la aplicación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</a:t>
            </a:r>
            <a:r>
              <a:rPr lang="es-ES" b="1" dirty="0" err="1"/>
              <a:t>repository.model.ts</a:t>
            </a:r>
            <a:r>
              <a:rPr lang="es-ES" b="1" dirty="0"/>
              <a:t> </a:t>
            </a:r>
            <a:r>
              <a:rPr lang="es-ES" dirty="0"/>
              <a:t>en carpeta </a:t>
            </a:r>
            <a:r>
              <a:rPr lang="es-ES" b="1" dirty="0" err="1"/>
              <a:t>src</a:t>
            </a:r>
            <a:r>
              <a:rPr lang="es-ES" b="1" dirty="0"/>
              <a:t>/</a:t>
            </a:r>
            <a:r>
              <a:rPr lang="es-ES" b="1" dirty="0" err="1"/>
              <a:t>repository</a:t>
            </a:r>
            <a:r>
              <a:rPr lang="es-ES" b="1" dirty="0"/>
              <a:t>.  </a:t>
            </a:r>
            <a:r>
              <a:rPr lang="es-E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(Listado 9.2)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Product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"./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product.model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}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"./</a:t>
            </a:r>
            <a:r>
              <a:rPr lang="es-E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datasource.model</a:t>
            </a:r>
            <a:r>
              <a:rPr lang="es-E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Model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locator = (p: Product, id: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=&gt; p.id == id;</a:t>
            </a:r>
          </a:p>
          <a:p>
            <a:pPr marL="0" indent="0">
              <a:buNone/>
            </a:pP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SimpleDataSource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Array&lt;Product&gt;();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.dataSource.getData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forEach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.products.push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(p));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getProducts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{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348755860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2D77A0-5D44-4D77-98DF-8EDEB738F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3865"/>
            <a:ext cx="8229600" cy="5919936"/>
          </a:xfrm>
        </p:spPr>
        <p:txBody>
          <a:bodyPr/>
          <a:lstStyle/>
          <a:p>
            <a:pPr marL="0" indent="0">
              <a:buNone/>
            </a:pP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(id: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):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.products.find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(p, id));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saveProduct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(product.id == 0 || product.id ==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product.id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.generateID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.products.push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</a:t>
            </a:r>
            <a:endParaRPr lang="es-E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findIndex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(p, product.id));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.products.splice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(index, 1, product);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deleteProduct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(id: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 =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.products.findIndex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(p, id));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&gt; -1) {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.products.splice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(index, 1);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s-E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generateID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candidate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100;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(candidate) !=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candidate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s-ES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candidate</a:t>
            </a: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3203848" y="5805264"/>
            <a:ext cx="3528392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Consolas" panose="020B0609020204030204" pitchFamily="49" charset="0"/>
              </a:rPr>
              <a:t>Comienza a generar </a:t>
            </a:r>
            <a:r>
              <a:rPr lang="es-ES" sz="1000" dirty="0" err="1">
                <a:latin typeface="Consolas" panose="020B0609020204030204" pitchFamily="49" charset="0"/>
              </a:rPr>
              <a:t>Ids</a:t>
            </a:r>
            <a:r>
              <a:rPr lang="es-ES" sz="1000" dirty="0">
                <a:latin typeface="Consolas" panose="020B0609020204030204" pitchFamily="49" charset="0"/>
              </a:rPr>
              <a:t> a partir de 100, es decir, el primer ID será el 101.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CFCE47-E80B-4330-AAA5-4842EDDCAB81}"/>
              </a:ext>
            </a:extLst>
          </p:cNvPr>
          <p:cNvSpPr txBox="1"/>
          <p:nvPr/>
        </p:nvSpPr>
        <p:spPr>
          <a:xfrm>
            <a:off x="6300192" y="1852157"/>
            <a:ext cx="2736304" cy="1477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333333"/>
                </a:solidFill>
                <a:latin typeface="Arial" panose="020B0604020202020204" pitchFamily="34" charset="0"/>
              </a:rPr>
              <a:t>cambia el contenido de un array eliminando elementos existentes y/o agregando nuevos elementos (Ver ejemplo)</a:t>
            </a:r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32F0475-4F0F-4D74-B126-7142144286A5}"/>
              </a:ext>
            </a:extLst>
          </p:cNvPr>
          <p:cNvCxnSpPr/>
          <p:nvPr/>
        </p:nvCxnSpPr>
        <p:spPr>
          <a:xfrm flipH="1">
            <a:off x="2699792" y="3068960"/>
            <a:ext cx="36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1FE841D-27A9-47A3-A70F-99A9A1CA338A}"/>
              </a:ext>
            </a:extLst>
          </p:cNvPr>
          <p:cNvCxnSpPr/>
          <p:nvPr/>
        </p:nvCxnSpPr>
        <p:spPr>
          <a:xfrm flipV="1">
            <a:off x="2699792" y="285293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B99624-6C2D-47EC-8DD0-7716DD44FC54}"/>
              </a:ext>
            </a:extLst>
          </p:cNvPr>
          <p:cNvSpPr txBox="1"/>
          <p:nvPr/>
        </p:nvSpPr>
        <p:spPr>
          <a:xfrm>
            <a:off x="141412" y="1556792"/>
            <a:ext cx="830188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400" dirty="0" err="1"/>
              <a:t>Insert</a:t>
            </a:r>
            <a:endParaRPr lang="es-ES" sz="1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91925B-8E25-411D-987C-A36F5106EA09}"/>
              </a:ext>
            </a:extLst>
          </p:cNvPr>
          <p:cNvSpPr txBox="1"/>
          <p:nvPr/>
        </p:nvSpPr>
        <p:spPr>
          <a:xfrm>
            <a:off x="141412" y="2221489"/>
            <a:ext cx="830188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400" dirty="0" err="1"/>
              <a:t>Update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439839696"/>
      </p:ext>
    </p:extLst>
  </p:cSld>
  <p:clrMapOvr>
    <a:masterClrMapping/>
  </p:clrMapOvr>
  <p:transition spd="slow">
    <p:zoom/>
    <p:sndAc>
      <p:stSnd>
        <p:snd r:embed="rId3" name="wind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5F544-BF42-4933-82B2-DBF5406CF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7"/>
            <a:ext cx="8229600" cy="5991944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NOTA: Con la última versión de Angular no se puede definir el tipo como </a:t>
            </a:r>
            <a:r>
              <a:rPr lang="es-ES" i="1" dirty="0" err="1"/>
              <a:t>Product</a:t>
            </a:r>
            <a:r>
              <a:rPr lang="es-ES" dirty="0"/>
              <a:t> </a:t>
            </a:r>
            <a:r>
              <a:rPr lang="es-ES" dirty="0" err="1"/>
              <a:t>dá</a:t>
            </a:r>
            <a:r>
              <a:rPr lang="es-ES" dirty="0"/>
              <a:t> error, hay que utilizar </a:t>
            </a:r>
            <a:r>
              <a:rPr lang="es-ES" i="1" dirty="0" err="1"/>
              <a:t>any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getProduct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(id: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number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): </a:t>
            </a:r>
            <a:r>
              <a:rPr lang="es-E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.products.find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(p, id));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saveProduct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s-E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(product.id == 0 || product.id ==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product.id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.generateID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.products.push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</a:t>
            </a:r>
            <a:endParaRPr lang="es-E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findIndex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.locator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(p, product.id));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.products.splice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(index, 1, product);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0046991"/>
      </p:ext>
    </p:extLst>
  </p:cSld>
  <p:clrMapOvr>
    <a:masterClrMapping/>
  </p:clrMapOvr>
  <p:transition spd="slow">
    <p:zoom/>
    <p:sndAc>
      <p:stSnd>
        <p:snd r:embed="rId3" name="wind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91AE76-2C1B-4F96-8206-CB4289ECC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5"/>
            <a:ext cx="8229600" cy="5559896"/>
          </a:xfrm>
        </p:spPr>
        <p:txBody>
          <a:bodyPr/>
          <a:lstStyle/>
          <a:p>
            <a:endParaRPr lang="es-ES" dirty="0"/>
          </a:p>
          <a:p>
            <a:r>
              <a:rPr lang="es-ES" i="1" dirty="0" err="1"/>
              <a:t>getProducts</a:t>
            </a:r>
            <a:r>
              <a:rPr lang="es-ES" dirty="0"/>
              <a:t>: Devuelve un array conteniendo todos los objetos </a:t>
            </a:r>
            <a:r>
              <a:rPr lang="es-ES" dirty="0" err="1"/>
              <a:t>Product</a:t>
            </a:r>
            <a:r>
              <a:rPr lang="es-ES" dirty="0"/>
              <a:t>.</a:t>
            </a:r>
          </a:p>
          <a:p>
            <a:r>
              <a:rPr lang="es-ES" i="1" dirty="0" err="1"/>
              <a:t>getProduct</a:t>
            </a:r>
            <a:r>
              <a:rPr lang="es-ES" dirty="0"/>
              <a:t>: Devuelve un solo objeto </a:t>
            </a:r>
            <a:r>
              <a:rPr lang="es-ES" dirty="0" err="1"/>
              <a:t>Product</a:t>
            </a:r>
            <a:r>
              <a:rPr lang="es-ES" dirty="0"/>
              <a:t> basado en su ID.</a:t>
            </a:r>
          </a:p>
          <a:p>
            <a:r>
              <a:rPr lang="es-ES" i="1" dirty="0" err="1"/>
              <a:t>saveProduct</a:t>
            </a:r>
            <a:r>
              <a:rPr lang="es-ES" dirty="0"/>
              <a:t>: Actualiza un objeto </a:t>
            </a:r>
            <a:r>
              <a:rPr lang="es-ES" dirty="0" err="1"/>
              <a:t>Product</a:t>
            </a:r>
            <a:r>
              <a:rPr lang="es-ES" dirty="0"/>
              <a:t> o añade uno nuevo al modelo.</a:t>
            </a:r>
          </a:p>
          <a:p>
            <a:r>
              <a:rPr lang="es-ES" i="1" dirty="0" err="1"/>
              <a:t>deleteProduct</a:t>
            </a:r>
            <a:r>
              <a:rPr lang="es-ES" dirty="0"/>
              <a:t>: Elimina un objeto </a:t>
            </a:r>
            <a:r>
              <a:rPr lang="es-ES" dirty="0" err="1"/>
              <a:t>Product</a:t>
            </a:r>
            <a:r>
              <a:rPr lang="es-ES" dirty="0"/>
              <a:t> basado en su ID.</a:t>
            </a:r>
          </a:p>
        </p:txBody>
      </p:sp>
    </p:spTree>
    <p:extLst>
      <p:ext uri="{BB962C8B-B14F-4D97-AF65-F5344CB8AC3E}">
        <p14:creationId xmlns:p14="http://schemas.microsoft.com/office/powerpoint/2010/main" val="1682444557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1D06C-2605-4C68-BBFA-8C7E92F7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324601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Crear los siguientes ficheros en esta carpeta: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ng generate component product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src</a:t>
            </a:r>
            <a:endParaRPr lang="en-US" dirty="0"/>
          </a:p>
          <a:p>
            <a:pPr marL="0" indent="0">
              <a:buNone/>
            </a:pPr>
            <a:endParaRPr lang="es-ES" u="sng" dirty="0"/>
          </a:p>
          <a:p>
            <a:pPr marL="0" indent="0">
              <a:buNone/>
            </a:pPr>
            <a:r>
              <a:rPr lang="es-ES" u="sng" dirty="0"/>
              <a:t>Creación de una plantilla(</a:t>
            </a:r>
            <a:r>
              <a:rPr lang="es-ES" u="sng" dirty="0" err="1"/>
              <a:t>template</a:t>
            </a:r>
            <a:r>
              <a:rPr lang="es-ES" u="sng" dirty="0"/>
              <a:t>).</a:t>
            </a:r>
          </a:p>
          <a:p>
            <a:pPr marL="0" indent="0">
              <a:buNone/>
            </a:pPr>
            <a:r>
              <a:rPr lang="es-ES" b="1" dirty="0">
                <a:sym typeface="Wingdings" panose="05000000000000000000" pitchFamily="2" charset="2"/>
              </a:rPr>
              <a:t> product.html</a:t>
            </a:r>
            <a:endParaRPr lang="es-ES" b="1" dirty="0"/>
          </a:p>
          <a:p>
            <a:r>
              <a:rPr lang="es-ES" dirty="0"/>
              <a:t>Una plantilla contiene el HTML que un componente presenta al usuario. </a:t>
            </a:r>
            <a:r>
              <a:rPr lang="es-ES" dirty="0">
                <a:sym typeface="Wingdings" panose="05000000000000000000" pitchFamily="2" charset="2"/>
              </a:rPr>
              <a:t>en </a:t>
            </a:r>
            <a:r>
              <a:rPr lang="es-ES" b="1" dirty="0" err="1">
                <a:sym typeface="Wingdings" panose="05000000000000000000" pitchFamily="2" charset="2"/>
              </a:rPr>
              <a:t>src</a:t>
            </a:r>
            <a:r>
              <a:rPr lang="es-ES" b="1" dirty="0">
                <a:sym typeface="Wingdings" panose="05000000000000000000" pitchFamily="2" charset="2"/>
              </a:rPr>
              <a:t>/</a:t>
            </a:r>
            <a:r>
              <a:rPr lang="es-ES" b="1" dirty="0" err="1">
                <a:sym typeface="Wingdings" panose="05000000000000000000" pitchFamily="2" charset="2"/>
              </a:rPr>
              <a:t>product</a:t>
            </a:r>
            <a:endParaRPr lang="es-E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bg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-info text-white m-2 p-2"&gt;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There are 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US" sz="2400" dirty="0" err="1">
                <a:solidFill>
                  <a:srgbClr val="800080"/>
                </a:solidFill>
                <a:latin typeface="Consolas" panose="020B0609020204030204" pitchFamily="49" charset="0"/>
              </a:rPr>
              <a:t>model.getProducts</a:t>
            </a:r>
            <a:r>
              <a:rPr lang="en-US" sz="2400" dirty="0">
                <a:solidFill>
                  <a:srgbClr val="800080"/>
                </a:solidFill>
                <a:latin typeface="Consolas" panose="020B0609020204030204" pitchFamily="49" charset="0"/>
              </a:rPr>
              <a:t>().length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			products in the model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2E53FD5-DECD-46EF-AC70-69C01D48FBCD}"/>
              </a:ext>
            </a:extLst>
          </p:cNvPr>
          <p:cNvSpPr txBox="1"/>
          <p:nvPr/>
        </p:nvSpPr>
        <p:spPr>
          <a:xfrm>
            <a:off x="3995936" y="5549208"/>
            <a:ext cx="1872208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Data </a:t>
            </a:r>
            <a:r>
              <a:rPr lang="es-ES" b="1" dirty="0" err="1"/>
              <a:t>binding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48868056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CA0945-A6B8-4F10-AE65-1A82E6468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9"/>
            <a:ext cx="8229600" cy="5703912"/>
          </a:xfrm>
        </p:spPr>
        <p:txBody>
          <a:bodyPr/>
          <a:lstStyle/>
          <a:p>
            <a:r>
              <a:rPr lang="es-ES" dirty="0"/>
              <a:t>Para proporcionar el componente para esta plantilla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b="1" dirty="0" err="1">
                <a:sym typeface="Wingdings" panose="05000000000000000000" pitchFamily="2" charset="2"/>
              </a:rPr>
              <a:t>product</a:t>
            </a:r>
            <a:r>
              <a:rPr lang="es-ES" dirty="0" err="1">
                <a:sym typeface="Wingdings" panose="05000000000000000000" pitchFamily="2" charset="2"/>
              </a:rPr>
              <a:t>.</a:t>
            </a:r>
            <a:r>
              <a:rPr lang="es-ES" b="1" dirty="0" err="1">
                <a:sym typeface="Wingdings" panose="05000000000000000000" pitchFamily="2" charset="2"/>
              </a:rPr>
              <a:t>ts</a:t>
            </a:r>
            <a:r>
              <a:rPr lang="es-ES" b="1" dirty="0">
                <a:sym typeface="Wingdings" panose="05000000000000000000" pitchFamily="2" charset="2"/>
              </a:rPr>
              <a:t> </a:t>
            </a:r>
            <a:r>
              <a:rPr lang="es-ES" dirty="0">
                <a:sym typeface="Wingdings" panose="05000000000000000000" pitchFamily="2" charset="2"/>
              </a:rPr>
              <a:t>en </a:t>
            </a:r>
            <a:r>
              <a:rPr lang="es-ES" b="1" dirty="0" err="1">
                <a:sym typeface="Wingdings" panose="05000000000000000000" pitchFamily="2" charset="2"/>
              </a:rPr>
              <a:t>src</a:t>
            </a:r>
            <a:r>
              <a:rPr lang="es-ES" b="1" dirty="0">
                <a:sym typeface="Wingdings" panose="05000000000000000000" pitchFamily="2" charset="2"/>
              </a:rPr>
              <a:t>/</a:t>
            </a:r>
            <a:r>
              <a:rPr lang="es-ES" b="1" dirty="0" err="1">
                <a:sym typeface="Wingdings" panose="05000000000000000000" pitchFamily="2" charset="2"/>
              </a:rPr>
              <a:t>product</a:t>
            </a:r>
            <a:endParaRPr lang="es-ES" b="1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(Listado 9.3)</a:t>
            </a:r>
            <a:endParaRPr lang="es-ES" sz="1600" b="1" dirty="0">
              <a:solidFill>
                <a:srgbClr val="FF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'@angular/core'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Model }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'../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respository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repository.model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selector: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'app-product'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imports: [],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templateUrl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'./product.html'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styleUrl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'./product.css'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pPr marL="0" indent="0">
              <a:buNone/>
            </a:pPr>
            <a:r>
              <a:rPr lang="en-NL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ProductComponent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model: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NL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98C429-4844-E8B7-8E10-934FF1343840}"/>
              </a:ext>
            </a:extLst>
          </p:cNvPr>
          <p:cNvSpPr txBox="1"/>
          <p:nvPr/>
        </p:nvSpPr>
        <p:spPr>
          <a:xfrm>
            <a:off x="5292427" y="5085184"/>
            <a:ext cx="339472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/>
              <a:t>OJO: Este componente será exportado con este nombre: </a:t>
            </a:r>
            <a:r>
              <a:rPr lang="es-ES" b="1" dirty="0" err="1"/>
              <a:t>ProductComponent</a:t>
            </a:r>
            <a:r>
              <a:rPr lang="es-ES" dirty="0"/>
              <a:t>, para no confundir con  la clase </a:t>
            </a:r>
            <a:r>
              <a:rPr lang="es-ES" dirty="0" err="1"/>
              <a:t>Product</a:t>
            </a:r>
            <a:r>
              <a:rPr lang="es-ES" dirty="0"/>
              <a:t> del </a:t>
            </a:r>
            <a:r>
              <a:rPr lang="es-ES" dirty="0" err="1"/>
              <a:t>producto.model.ts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56102366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85815-534F-447B-9CC9-9E3AD3C5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1"/>
            <a:ext cx="8229600" cy="5775920"/>
          </a:xfrm>
        </p:spPr>
        <p:txBody>
          <a:bodyPr/>
          <a:lstStyle/>
          <a:p>
            <a:r>
              <a:rPr lang="es-ES" dirty="0"/>
              <a:t>Por tanto para que se cargue esta plantilla en el </a:t>
            </a:r>
            <a:r>
              <a:rPr lang="es-ES" b="1" dirty="0"/>
              <a:t>index.html:   </a:t>
            </a:r>
            <a:r>
              <a:rPr lang="es-E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(Listado 9.4) 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!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doctype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="en"&gt;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="utf-8"&gt;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Ejemplo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base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="/"&gt;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="viewport"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="width=device-width, initial-scale=1"&gt;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icon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image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/x-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icon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="favicon.ico"&gt;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0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s-ES" sz="2000" dirty="0">
                <a:solidFill>
                  <a:srgbClr val="A31515"/>
                </a:solidFill>
                <a:latin typeface="Consolas" panose="020B0609020204030204" pitchFamily="49" charset="0"/>
              </a:rPr>
              <a:t>app-</a:t>
            </a:r>
            <a:r>
              <a:rPr lang="es-E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product</a:t>
            </a:r>
            <a:r>
              <a:rPr lang="es-E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s-ES" sz="2000" dirty="0">
                <a:solidFill>
                  <a:srgbClr val="A31515"/>
                </a:solidFill>
                <a:latin typeface="Consolas" panose="020B0609020204030204" pitchFamily="49" charset="0"/>
              </a:rPr>
              <a:t>app-</a:t>
            </a:r>
            <a:r>
              <a:rPr lang="es-E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product</a:t>
            </a:r>
            <a:r>
              <a:rPr lang="es-ES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s-E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s-ES" sz="2000" dirty="0" err="1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s-ES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79B74A-262E-4DD5-B6C8-4373B771E7E2}"/>
              </a:ext>
            </a:extLst>
          </p:cNvPr>
          <p:cNvSpPr txBox="1"/>
          <p:nvPr/>
        </p:nvSpPr>
        <p:spPr>
          <a:xfrm>
            <a:off x="3995936" y="6309319"/>
            <a:ext cx="4464496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En vez de </a:t>
            </a:r>
            <a:r>
              <a:rPr lang="es-ES" b="1" dirty="0"/>
              <a:t>&lt;app-</a:t>
            </a:r>
            <a:r>
              <a:rPr lang="es-ES" b="1" dirty="0" err="1"/>
              <a:t>root</a:t>
            </a:r>
            <a:r>
              <a:rPr lang="es-ES" b="1" dirty="0"/>
              <a:t>&gt;&lt;/app-</a:t>
            </a:r>
            <a:r>
              <a:rPr lang="es-ES" b="1" dirty="0" err="1"/>
              <a:t>root</a:t>
            </a:r>
            <a:r>
              <a:rPr lang="es-ES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28194803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B1B51-4002-40F4-ADE7-128058E7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584792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Eliminar ficheros app-</a:t>
            </a:r>
            <a:r>
              <a:rPr lang="es-ES" dirty="0" err="1"/>
              <a:t>component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y mover el fichero </a:t>
            </a:r>
            <a:r>
              <a:rPr lang="es-ES" dirty="0" err="1"/>
              <a:t>app.config.ts</a:t>
            </a:r>
            <a:r>
              <a:rPr lang="es-ES" dirty="0"/>
              <a:t> a </a:t>
            </a:r>
            <a:r>
              <a:rPr lang="es-ES" dirty="0" err="1"/>
              <a:t>src</a:t>
            </a:r>
            <a:r>
              <a:rPr lang="es-ES" dirty="0"/>
              <a:t> data</a:t>
            </a:r>
          </a:p>
          <a:p>
            <a:pPr marL="0" indent="0">
              <a:buNone/>
            </a:pPr>
            <a:r>
              <a:rPr lang="es-ES" dirty="0" err="1"/>
              <a:t>app.config.ts</a:t>
            </a:r>
            <a:r>
              <a:rPr lang="es-ES" dirty="0"/>
              <a:t> no es obligatorio en </a:t>
            </a:r>
            <a:r>
              <a:rPr lang="es-ES" dirty="0" err="1"/>
              <a:t>Angular.Es</a:t>
            </a:r>
            <a:r>
              <a:rPr lang="es-ES" dirty="0"/>
              <a:t> un archivo creado por el equipo de desarrollo para centralizar la configuración global de la app. Como en este proyecto vamos a usar </a:t>
            </a:r>
            <a:r>
              <a:rPr lang="es-ES" dirty="0" err="1"/>
              <a:t>bootstrapApplication</a:t>
            </a:r>
            <a:r>
              <a:rPr lang="es-ES" dirty="0"/>
              <a:t> es necesario. Piensa en él como </a:t>
            </a:r>
            <a:r>
              <a:rPr lang="es-ES" b="1" dirty="0"/>
              <a:t>un “lugar único” donde definimos todo lo que podría cambiar y queremos tener disponible en toda la app</a:t>
            </a:r>
            <a:r>
              <a:rPr lang="es-ES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3A4C2B-5082-48FD-ABC0-D6CAF407EFFA}"/>
              </a:ext>
            </a:extLst>
          </p:cNvPr>
          <p:cNvSpPr txBox="1"/>
          <p:nvPr/>
        </p:nvSpPr>
        <p:spPr>
          <a:xfrm>
            <a:off x="1115616" y="1196752"/>
            <a:ext cx="4176464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Podemos eliminar del proyecto los siguientes ficheros: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app.component.css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app.component.html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app.component.ts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 , es decir, eliminamos la carpeta app completa ya que no nos hace falta</a:t>
            </a:r>
          </a:p>
        </p:txBody>
      </p:sp>
    </p:spTree>
    <p:extLst>
      <p:ext uri="{BB962C8B-B14F-4D97-AF65-F5344CB8AC3E}">
        <p14:creationId xmlns:p14="http://schemas.microsoft.com/office/powerpoint/2010/main" val="342004506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0E41-A2AB-6AE8-C8F1-8846C57F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9"/>
            <a:ext cx="8229600" cy="606395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 err="1">
                <a:sym typeface="Wingdings" panose="05000000000000000000" pitchFamily="2" charset="2"/>
              </a:rPr>
              <a:t>main.ts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s-E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(Listado 9.6) </a:t>
            </a:r>
            <a:endParaRPr lang="en-US" sz="18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la función que arranca (</a:t>
            </a:r>
            <a:r>
              <a:rPr lang="es-E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una aplicación Angular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en el navegador usando el nuevo sistema sin </a:t>
            </a:r>
            <a:r>
              <a:rPr lang="es-E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NgModule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bootstrapApplication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'@angular/platform-browser'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la configuración global de la app (</a:t>
            </a:r>
            <a:r>
              <a:rPr lang="es-E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providers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s-E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routing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etc.)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app.config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Importa el componente raíz de la aplicación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ProductComponent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'./product/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product.component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NL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NL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Arranca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aplicación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Angular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Usa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como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componente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raíz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(&lt;app-root&gt;&lt;/app-root&gt;)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Usa </a:t>
            </a:r>
            <a:r>
              <a:rPr lang="es-E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como configuración global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bootstrapApplication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ProductComponent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appConfig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NL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Si ocurre algún error durante el arranque,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s-E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lo captura y lo muestra por consola</a:t>
            </a:r>
            <a:endParaRPr lang="es-E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.catch((err) =&gt;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.error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(err));</a:t>
            </a:r>
          </a:p>
          <a:p>
            <a:pPr marL="0" indent="0">
              <a:buNone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CuadroTexto 6">
            <a:extLst>
              <a:ext uri="{FF2B5EF4-FFF2-40B4-BE49-F238E27FC236}">
                <a16:creationId xmlns:a16="http://schemas.microsoft.com/office/drawing/2014/main" id="{101F802F-C4E5-39B4-F1E5-D5692E1610B1}"/>
              </a:ext>
            </a:extLst>
          </p:cNvPr>
          <p:cNvSpPr txBox="1"/>
          <p:nvPr/>
        </p:nvSpPr>
        <p:spPr>
          <a:xfrm>
            <a:off x="6624228" y="6324601"/>
            <a:ext cx="159452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visualizar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65D229-1D61-46EE-8494-6DB1A1DBCA18}"/>
              </a:ext>
            </a:extLst>
          </p:cNvPr>
          <p:cNvSpPr/>
          <p:nvPr/>
        </p:nvSpPr>
        <p:spPr>
          <a:xfrm>
            <a:off x="457572" y="1772816"/>
            <a:ext cx="454647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FAEDB8-B8CF-425A-BFBF-1DE88526C0D6}"/>
              </a:ext>
            </a:extLst>
          </p:cNvPr>
          <p:cNvSpPr/>
          <p:nvPr/>
        </p:nvSpPr>
        <p:spPr>
          <a:xfrm>
            <a:off x="457200" y="2186210"/>
            <a:ext cx="6167028" cy="666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7FBB68-BA1F-411D-9B15-D7F21AF6992C}"/>
              </a:ext>
            </a:extLst>
          </p:cNvPr>
          <p:cNvSpPr/>
          <p:nvPr/>
        </p:nvSpPr>
        <p:spPr>
          <a:xfrm>
            <a:off x="3923928" y="3789039"/>
            <a:ext cx="1224136" cy="26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142086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CA1B17-4CD3-45F9-8322-5F64DC11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9"/>
            <a:ext cx="8229600" cy="60639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La </a:t>
            </a:r>
            <a:r>
              <a:rPr lang="en-US" dirty="0" err="1"/>
              <a:t>estructura</a:t>
            </a:r>
            <a:r>
              <a:rPr lang="en-US" dirty="0"/>
              <a:t> final del Proyecto </a:t>
            </a:r>
            <a:r>
              <a:rPr lang="en-US" dirty="0" err="1"/>
              <a:t>será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endParaRPr lang="en-N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77A2C3-C9FD-44BF-BD95-76AE2C33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773244"/>
            <a:ext cx="3600400" cy="592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5148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4EFE582-560B-4C0B-9408-45420577711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t="4337" b="69151"/>
          <a:stretch/>
        </p:blipFill>
        <p:spPr bwMode="auto">
          <a:xfrm>
            <a:off x="179512" y="1484784"/>
            <a:ext cx="8964488" cy="24482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634345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923669-327B-45AB-8F21-E3DEB57CA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1040"/>
            <a:ext cx="8229600" cy="5775920"/>
          </a:xfrm>
        </p:spPr>
        <p:txBody>
          <a:bodyPr/>
          <a:lstStyle/>
          <a:p>
            <a:pPr marL="0" indent="0">
              <a:buNone/>
            </a:pPr>
            <a:r>
              <a:rPr lang="es-ES" b="1" u="sng" dirty="0"/>
              <a:t>Ejercicio Propuesto (9.1)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Crear un nuevo proyecto Angular. Llamarlo </a:t>
            </a:r>
            <a:r>
              <a:rPr lang="es-ES" b="1" i="1" dirty="0" err="1"/>
              <a:t>CourseApp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Añadir </a:t>
            </a:r>
            <a:r>
              <a:rPr lang="es-ES" i="1" dirty="0" err="1"/>
              <a:t>framework</a:t>
            </a:r>
            <a:r>
              <a:rPr lang="es-ES" i="1" dirty="0"/>
              <a:t> CSS Bootstrap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Crear un </a:t>
            </a:r>
            <a:r>
              <a:rPr lang="es-ES" b="1" dirty="0"/>
              <a:t>data </a:t>
            </a:r>
            <a:r>
              <a:rPr lang="es-ES" b="1" dirty="0" err="1"/>
              <a:t>model</a:t>
            </a:r>
            <a:r>
              <a:rPr lang="es-E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Clase </a:t>
            </a:r>
            <a:r>
              <a:rPr lang="es-ES" dirty="0" err="1"/>
              <a:t>Course</a:t>
            </a:r>
            <a:r>
              <a:rPr lang="es-ES" dirty="0"/>
              <a:t>. Atributos: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" i="1" dirty="0"/>
              <a:t>id(</a:t>
            </a:r>
            <a:r>
              <a:rPr lang="es-ES" i="1" dirty="0" err="1"/>
              <a:t>number</a:t>
            </a:r>
            <a:r>
              <a:rPr lang="es-ES" i="1" dirty="0"/>
              <a:t>), </a:t>
            </a:r>
            <a:r>
              <a:rPr lang="es-ES" i="1" dirty="0" err="1"/>
              <a:t>title</a:t>
            </a:r>
            <a:r>
              <a:rPr lang="es-ES" i="1" dirty="0"/>
              <a:t>(</a:t>
            </a:r>
            <a:r>
              <a:rPr lang="es-ES" i="1" dirty="0" err="1"/>
              <a:t>string</a:t>
            </a:r>
            <a:r>
              <a:rPr lang="es-ES" i="1" dirty="0"/>
              <a:t>), </a:t>
            </a:r>
            <a:r>
              <a:rPr lang="es-ES" i="1" dirty="0" err="1"/>
              <a:t>seatCapacity</a:t>
            </a:r>
            <a:r>
              <a:rPr lang="es-ES" i="1" dirty="0"/>
              <a:t>(</a:t>
            </a:r>
            <a:r>
              <a:rPr lang="es-ES" i="1" dirty="0" err="1"/>
              <a:t>number</a:t>
            </a:r>
            <a:r>
              <a:rPr lang="es-ES" i="1" dirty="0"/>
              <a:t>), </a:t>
            </a:r>
            <a:r>
              <a:rPr lang="es-ES" i="1" dirty="0" err="1"/>
              <a:t>instructorName</a:t>
            </a:r>
            <a:r>
              <a:rPr lang="es-ES" i="1" dirty="0"/>
              <a:t>(</a:t>
            </a:r>
            <a:r>
              <a:rPr lang="es-ES" i="1" dirty="0" err="1"/>
              <a:t>string</a:t>
            </a:r>
            <a:r>
              <a:rPr lang="es-ES" i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/>
              <a:t>Data </a:t>
            </a:r>
            <a:r>
              <a:rPr lang="es-ES" dirty="0" err="1"/>
              <a:t>Source</a:t>
            </a:r>
            <a:r>
              <a:rPr lang="es-ES" dirty="0"/>
              <a:t>, con los siguientes datos: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D798FDE-5292-4665-9AF0-1DB8E21D03DD}"/>
              </a:ext>
            </a:extLst>
          </p:cNvPr>
          <p:cNvGraphicFramePr>
            <a:graphicFrameLocks noGrp="1"/>
          </p:cNvGraphicFramePr>
          <p:nvPr/>
        </p:nvGraphicFramePr>
        <p:xfrm>
          <a:off x="827584" y="4653136"/>
          <a:ext cx="77048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214">
                  <a:extLst>
                    <a:ext uri="{9D8B030D-6E8A-4147-A177-3AD203B41FA5}">
                      <a16:colId xmlns:a16="http://schemas.microsoft.com/office/drawing/2014/main" val="3060464377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882317679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494731428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123562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tittle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seatCapacity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instructorName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492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Agile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John Jones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02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John Jones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46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Ross Miller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5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Alex Walker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867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6202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E82A2E-C6B1-4BF8-A7AF-043450AC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1"/>
            <a:ext cx="8229600" cy="5775920"/>
          </a:xfrm>
        </p:spPr>
        <p:txBody>
          <a:bodyPr/>
          <a:lstStyle/>
          <a:p>
            <a:r>
              <a:rPr lang="es-ES" dirty="0"/>
              <a:t>Crear un </a:t>
            </a:r>
            <a:r>
              <a:rPr lang="es-ES" b="1" dirty="0"/>
              <a:t>Repositorio</a:t>
            </a:r>
            <a:r>
              <a:rPr lang="es-ES" dirty="0"/>
              <a:t> con los siguientes métodos:</a:t>
            </a:r>
          </a:p>
          <a:p>
            <a:pPr lvl="1"/>
            <a:r>
              <a:rPr lang="es-ES" dirty="0" err="1"/>
              <a:t>getCourses</a:t>
            </a:r>
            <a:r>
              <a:rPr lang="es-ES" dirty="0"/>
              <a:t>(),</a:t>
            </a:r>
          </a:p>
          <a:p>
            <a:pPr lvl="1"/>
            <a:r>
              <a:rPr lang="es-ES" dirty="0" err="1"/>
              <a:t>getCourse</a:t>
            </a:r>
            <a:r>
              <a:rPr lang="es-ES" dirty="0"/>
              <a:t>(id: </a:t>
            </a:r>
            <a:r>
              <a:rPr lang="es-ES" dirty="0" err="1"/>
              <a:t>number</a:t>
            </a:r>
            <a:r>
              <a:rPr lang="es-ES" dirty="0"/>
              <a:t>),</a:t>
            </a:r>
          </a:p>
          <a:p>
            <a:pPr lvl="1"/>
            <a:r>
              <a:rPr lang="es-ES" dirty="0" err="1"/>
              <a:t>saveCourse</a:t>
            </a:r>
            <a:r>
              <a:rPr lang="es-ES" dirty="0"/>
              <a:t>(</a:t>
            </a:r>
            <a:r>
              <a:rPr lang="es-ES" dirty="0" err="1"/>
              <a:t>course</a:t>
            </a:r>
            <a:r>
              <a:rPr lang="es-ES" dirty="0"/>
              <a:t>: </a:t>
            </a:r>
            <a:r>
              <a:rPr lang="es-ES" dirty="0" err="1"/>
              <a:t>Course</a:t>
            </a:r>
            <a:r>
              <a:rPr lang="es-ES" dirty="0"/>
              <a:t>),</a:t>
            </a:r>
          </a:p>
          <a:p>
            <a:pPr lvl="1"/>
            <a:r>
              <a:rPr lang="es-ES" dirty="0" err="1"/>
              <a:t>deleteCourse</a:t>
            </a:r>
            <a:r>
              <a:rPr lang="es-ES" dirty="0"/>
              <a:t>(id: </a:t>
            </a:r>
            <a:r>
              <a:rPr lang="es-ES" dirty="0" err="1"/>
              <a:t>number</a:t>
            </a:r>
            <a:r>
              <a:rPr lang="es-ES" dirty="0"/>
              <a:t>)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5949509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6AD4E1-4C9B-4DFA-A9C4-2CF3452E1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7"/>
            <a:ext cx="8229600" cy="5631904"/>
          </a:xfrm>
        </p:spPr>
        <p:txBody>
          <a:bodyPr/>
          <a:lstStyle/>
          <a:p>
            <a:pPr marL="0" indent="0">
              <a:buNone/>
            </a:pPr>
            <a:r>
              <a:rPr lang="es-ES" b="1" u="sng" dirty="0"/>
              <a:t>Ejercicio Propuesto (9.2)</a:t>
            </a:r>
          </a:p>
          <a:p>
            <a:r>
              <a:rPr lang="es-ES" dirty="0"/>
              <a:t>Crear una plantilla que informe del número de cursos.</a:t>
            </a:r>
          </a:p>
          <a:p>
            <a:r>
              <a:rPr lang="es-ES" dirty="0"/>
              <a:t>Proporcionar un componente para esa plantilla.</a:t>
            </a:r>
          </a:p>
          <a:p>
            <a:r>
              <a:rPr lang="es-ES" dirty="0"/>
              <a:t>Cargar la plantilla en el Index.html</a:t>
            </a:r>
          </a:p>
          <a:p>
            <a:r>
              <a:rPr lang="es-ES" dirty="0"/>
              <a:t>Registrar el componente en el arranque(</a:t>
            </a:r>
            <a:r>
              <a:rPr lang="es-ES" dirty="0" err="1"/>
              <a:t>root</a:t>
            </a:r>
            <a:r>
              <a:rPr lang="es-ES" dirty="0"/>
              <a:t>)</a:t>
            </a:r>
          </a:p>
          <a:p>
            <a:r>
              <a:rPr lang="es-ES" dirty="0"/>
              <a:t>Ejecutar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NOTA: Proyecto G:\ANGULAR6(MASTER)\practicaAppII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966260"/>
      </p:ext>
    </p:extLst>
  </p:cSld>
  <p:clrMapOvr>
    <a:masterClrMapping/>
  </p:clrMapOvr>
  <p:transition spd="slow">
    <p:zoom/>
    <p:sndAc>
      <p:stSnd>
        <p:snd r:embed="rId2" name="wind.wav"/>
      </p:stSnd>
    </p:sndAc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1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ujo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ujo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A7585996A2CD47958F9997BF184A70" ma:contentTypeVersion="11" ma:contentTypeDescription="Crear nuevo documento." ma:contentTypeScope="" ma:versionID="17f47c2be943805ccce6ec75f32f7bd9">
  <xsd:schema xmlns:xsd="http://www.w3.org/2001/XMLSchema" xmlns:xs="http://www.w3.org/2001/XMLSchema" xmlns:p="http://schemas.microsoft.com/office/2006/metadata/properties" xmlns:ns2="f2a89881-f534-464c-b808-738f55940ddc" xmlns:ns3="8b90cb47-533b-4348-8377-2555f410ee9a" targetNamespace="http://schemas.microsoft.com/office/2006/metadata/properties" ma:root="true" ma:fieldsID="2f2ba164f4c4f3a44c376fe525e4e3f9" ns2:_="" ns3:_="">
    <xsd:import namespace="f2a89881-f534-464c-b808-738f55940ddc"/>
    <xsd:import namespace="8b90cb47-533b-4348-8377-2555f410ee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89881-f534-464c-b808-738f55940d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a1f5335-b09a-4a83-a63e-967bd6a3f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0cb47-533b-4348-8377-2555f410ee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f0b7fc-64a3-459c-9f6d-52f0aa3bfddc}" ma:internalName="TaxCatchAll" ma:showField="CatchAllData" ma:web="8b90cb47-533b-4348-8377-2555f410ee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a89881-f534-464c-b808-738f55940ddc">
      <Terms xmlns="http://schemas.microsoft.com/office/infopath/2007/PartnerControls"/>
    </lcf76f155ced4ddcb4097134ff3c332f>
    <TaxCatchAll xmlns="8b90cb47-533b-4348-8377-2555f410ee9a" xsi:nil="true"/>
  </documentManagement>
</p:properties>
</file>

<file path=customXml/itemProps1.xml><?xml version="1.0" encoding="utf-8"?>
<ds:datastoreItem xmlns:ds="http://schemas.openxmlformats.org/officeDocument/2006/customXml" ds:itemID="{5A83F530-6152-48EE-BA19-78F58CF6005B}"/>
</file>

<file path=customXml/itemProps2.xml><?xml version="1.0" encoding="utf-8"?>
<ds:datastoreItem xmlns:ds="http://schemas.openxmlformats.org/officeDocument/2006/customXml" ds:itemID="{89B2BCE5-DEE3-4B8A-B924-3CD1746092EC}"/>
</file>

<file path=customXml/itemProps3.xml><?xml version="1.0" encoding="utf-8"?>
<ds:datastoreItem xmlns:ds="http://schemas.openxmlformats.org/officeDocument/2006/customXml" ds:itemID="{BF8F51AB-6C2A-4386-A094-56D4B1552620}"/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5339</TotalTime>
  <Words>2496</Words>
  <Application>Microsoft Office PowerPoint</Application>
  <PresentationFormat>Presentación en pantalla (4:3)</PresentationFormat>
  <Paragraphs>358</Paragraphs>
  <Slides>27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Calibri</vt:lpstr>
      <vt:lpstr>Cascadia Mono</vt:lpstr>
      <vt:lpstr>Consolas</vt:lpstr>
      <vt:lpstr>Constantia</vt:lpstr>
      <vt:lpstr>Wingdings 2</vt:lpstr>
      <vt:lpstr>Tema1</vt:lpstr>
      <vt:lpstr>ANGULAR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8</dc:title>
  <dc:creator>DiegoyRosaura</dc:creator>
  <cp:lastModifiedBy>Javier Vázquez Albarrán</cp:lastModifiedBy>
  <cp:revision>266</cp:revision>
  <dcterms:created xsi:type="dcterms:W3CDTF">2012-09-30T16:13:01Z</dcterms:created>
  <dcterms:modified xsi:type="dcterms:W3CDTF">2026-01-20T10:51:09Z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0x0101003FA7585996A2CD47958F9997BF184A70</vt:lpwstr>
  </property>
</Properties>
</file>